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6"/>
  </p:notesMasterIdLst>
  <p:sldIdLst>
    <p:sldId id="349" r:id="rId2"/>
    <p:sldId id="455" r:id="rId3"/>
    <p:sldId id="458" r:id="rId4"/>
    <p:sldId id="456" r:id="rId5"/>
    <p:sldId id="443" r:id="rId6"/>
    <p:sldId id="444" r:id="rId7"/>
    <p:sldId id="429" r:id="rId8"/>
    <p:sldId id="432" r:id="rId9"/>
    <p:sldId id="433" r:id="rId10"/>
    <p:sldId id="435" r:id="rId11"/>
    <p:sldId id="437" r:id="rId12"/>
    <p:sldId id="457" r:id="rId13"/>
    <p:sldId id="438" r:id="rId14"/>
    <p:sldId id="460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A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>
      <p:cViewPr varScale="1">
        <p:scale>
          <a:sx n="106" d="100"/>
          <a:sy n="106" d="100"/>
        </p:scale>
        <p:origin x="14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7D2EF-F690-4268-BD54-AF2B6D5E9D22}" type="datetimeFigureOut">
              <a:rPr lang="ru-RU" smtClean="0"/>
              <a:t>01.11.2025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E56E8-AA3C-48DC-8914-41860B478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68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408CA-5EA7-4DDF-80B1-9B5822111A27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1BAC-A363-43B7-BE56-BCDB8670CADC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0AEA-EDF0-46FA-A975-00C47253B192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73BA-895F-4DC7-9A42-FEE277851B0B}" type="datetime1">
              <a:rPr lang="ru-RU" smtClean="0"/>
              <a:t>01.11.2025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6AF3-D0EA-45B4-835E-2D5B779ABC3B}" type="datetime1">
              <a:rPr lang="ru-RU" smtClean="0"/>
              <a:t>01.11.2025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96896-DFA2-40AA-B672-82302282C531}" type="datetime1">
              <a:rPr lang="ru-RU" smtClean="0"/>
              <a:t>01.11.2025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FC9F-1451-4141-B26F-27BC50526BBB}" type="datetime1">
              <a:rPr lang="ru-RU" smtClean="0"/>
              <a:t>01.11.2025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EB65-BE88-48FD-826D-A4B5089FED44}" type="datetime1">
              <a:rPr lang="ru-RU" smtClean="0"/>
              <a:t>01.11.2025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62C1F-F9DA-4642-A8D5-42264E0B4455}" type="datetime1">
              <a:rPr lang="ru-RU" smtClean="0"/>
              <a:t>01.11.2025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AE9B0-9E7A-453B-93DE-F4300DDFAD73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5427-F3EC-4076-900D-D655BD33443E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7A809B28-2E6F-4556-B4BF-B304FADCC784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9F2474E-09A5-4669-8CE9-58975EBA069D}" type="datetime1">
              <a:rPr lang="ru-RU" smtClean="0"/>
              <a:t>01.11.2025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772816"/>
            <a:ext cx="7776864" cy="2376264"/>
          </a:xfrm>
          <a:extLst/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Многооконный интерфейс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4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86087" y="838153"/>
            <a:ext cx="8030649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Разрабатывают приложение с несколькими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окнами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случаях:</a:t>
            </a:r>
          </a:p>
          <a:p>
            <a:pPr marL="342900" lvl="0" indent="-342900">
              <a:buFont typeface="Wingdings" pitchFamily="2" charset="2"/>
              <a:buChar char="§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переполнено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элементами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itchFamily="2" charset="2"/>
              <a:buChar char="§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распределить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между окнами.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591" y="20313"/>
            <a:ext cx="83708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Многооконное приложение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49341" y="2097732"/>
            <a:ext cx="8067395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должно содержать как минимум одно окно – главное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создается автоматически. Обычно оно содержит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Остальные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разделяют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ролям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(клиент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администратор, директор, бухгалтер, менеджер и т.д.). 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249341" y="3636543"/>
            <a:ext cx="80573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окно имеет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уникальное оформление (стиль, тема и т.д.);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фиксированную часть (заголовок, подвал и др.);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меняющую часть, которая зависит от текущей ситуации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26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7591" y="20313"/>
            <a:ext cx="83708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Многооконное приложение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90" y="877723"/>
            <a:ext cx="788663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создаются автоматически два файла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076056" y="2412578"/>
            <a:ext cx="331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код окна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020523" y="1762026"/>
            <a:ext cx="2949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Интерфейсная часть окна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259690" y="1556792"/>
            <a:ext cx="3310340" cy="2304256"/>
            <a:chOff x="274869" y="2276872"/>
            <a:chExt cx="3310340" cy="2304256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869" y="2276872"/>
              <a:ext cx="3310340" cy="230425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3" name="Прямоугольник 2"/>
            <p:cNvSpPr/>
            <p:nvPr/>
          </p:nvSpPr>
          <p:spPr>
            <a:xfrm>
              <a:off x="683568" y="4077072"/>
              <a:ext cx="1944216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747568" y="1731166"/>
            <a:ext cx="1102574" cy="369332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734463" y="2412578"/>
            <a:ext cx="1095833" cy="369332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xaml.cs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23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/>
      <p:bldP spid="23" grpId="0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591" y="20313"/>
            <a:ext cx="83708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проекта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510" y="789754"/>
            <a:ext cx="81489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приложения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начинается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 класса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с класса </a:t>
            </a:r>
            <a:r>
              <a:rPr lang="ru-RU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храниться в файлах </a:t>
            </a:r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App.xaml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App.xaml.cs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48569" y="1559195"/>
            <a:ext cx="8108876" cy="2862322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Содержимое файла </a:t>
            </a:r>
            <a:r>
              <a:rPr lang="en-US" b="1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App.xaml</a:t>
            </a:r>
            <a:r>
              <a:rPr lang="en-US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x:Class="MultyPostOffice.App"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="http://schemas.microsoft.com/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/2006/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/presentation"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="http://schemas.microsoft.com/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/2006/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xmlns:local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clr-namespace:MultyPostOffice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StartupUri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MainWindow.xaml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Application.Resources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Application&gt;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57" y="4221088"/>
            <a:ext cx="7486876" cy="252028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845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4423" y="833886"/>
            <a:ext cx="80891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умолчанию создается приложение с одним окном – файлы </a:t>
            </a:r>
            <a:r>
              <a:rPr lang="en-US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endParaRPr lang="ru-RU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7591" y="20313"/>
            <a:ext cx="84428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Структура проекта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4423" y="1428783"/>
            <a:ext cx="808917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приложении с несколькими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окнами создают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проекте папку, в которую помещают все файлы для каждого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другое имя папки). Обычно окно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эту папку не помещают.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852936"/>
            <a:ext cx="3816424" cy="313587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204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591" y="20313"/>
            <a:ext cx="84428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Добавление окна к проекту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379" y="908720"/>
            <a:ext cx="279009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Вызвать локальное меню к папке: «Добавить: Окно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WPF)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895" y="803625"/>
            <a:ext cx="5982872" cy="229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669305" y="3181816"/>
            <a:ext cx="271108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Дать имя файлу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xaml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соответствующее назначению окна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379" y="6165304"/>
            <a:ext cx="51133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необходимые файлы окна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1" y="2996952"/>
            <a:ext cx="5354810" cy="29846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24" y="4105146"/>
            <a:ext cx="2896004" cy="252447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333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50155" y="908720"/>
            <a:ext cx="812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представление окна –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класс-потомок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стандартного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класса-родителя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 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System.Windows</a:t>
            </a:r>
            <a:endParaRPr lang="ru-RU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591" y="20313"/>
            <a:ext cx="84428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Окно как класс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40700" y="2150818"/>
            <a:ext cx="5887484" cy="3477875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System.Windows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MultyPostOffice.View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AuthorizationWindow: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27584" y="3744828"/>
            <a:ext cx="3280549" cy="12898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кругленная прямоугольная выноска 2"/>
          <p:cNvSpPr/>
          <p:nvPr/>
        </p:nvSpPr>
        <p:spPr>
          <a:xfrm>
            <a:off x="5652120" y="3527283"/>
            <a:ext cx="2556285" cy="724944"/>
          </a:xfrm>
          <a:prstGeom prst="wedgeRoundRectCallout">
            <a:avLst>
              <a:gd name="adj1" fmla="val -124333"/>
              <a:gd name="adj2" fmla="val 644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окна без параметров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40700" y="1707209"/>
            <a:ext cx="552069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Содержимое файла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AdminWindow.xaml.cs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46239" y="5730606"/>
            <a:ext cx="81285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Модификатор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объявление класса разбито на несколько файлов с одинаковым именем и словом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0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2" grpId="0" animBg="1"/>
      <p:bldP spid="3" grpId="0" animBg="1"/>
      <p:bldP spid="12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331" y="719540"/>
            <a:ext cx="817194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– это новый тип, он не создает объект. Для создания объекта необходимо выделить память - применить операцию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класса. Для объекта надо  вызвать конструктор этого класса.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главного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окна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создается автоматически 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файле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App.xaml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вызове метода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App.InitializeComponent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блоке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7591" y="20313"/>
            <a:ext cx="82436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lang="ru-RU" sz="40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объекта окна</a:t>
            </a:r>
            <a:endParaRPr lang="ru-RU" sz="40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156971" y="4830717"/>
            <a:ext cx="8879525" cy="1200329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void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butOrder_Click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(object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View.AuthorizationWindow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View.AuthorizationWindow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6228184" y="6051155"/>
            <a:ext cx="2473106" cy="724944"/>
          </a:xfrm>
          <a:prstGeom prst="wedgeRoundRectCallout">
            <a:avLst>
              <a:gd name="adj1" fmla="val -38381"/>
              <a:gd name="adj2" fmla="val -935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 окна без параметров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2864536" y="6211375"/>
            <a:ext cx="2736304" cy="576064"/>
          </a:xfrm>
          <a:prstGeom prst="wedgeRoundRectCallout">
            <a:avLst>
              <a:gd name="adj1" fmla="val -4749"/>
              <a:gd name="adj2" fmla="val -1440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нового окна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Скругленная прямоугольная выноска 9"/>
          <p:cNvSpPr/>
          <p:nvPr/>
        </p:nvSpPr>
        <p:spPr>
          <a:xfrm>
            <a:off x="251520" y="6200024"/>
            <a:ext cx="2389189" cy="598766"/>
          </a:xfrm>
          <a:prstGeom prst="wedgeRoundRectCallout">
            <a:avLst>
              <a:gd name="adj1" fmla="val 4273"/>
              <a:gd name="adj2" fmla="val -1296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нового окна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6971" y="2319945"/>
            <a:ext cx="817516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</a:t>
            </a:r>
            <a:r>
              <a:rPr lang="ru-RU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дополнительного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окна создается </a:t>
            </a:r>
            <a:r>
              <a:rPr lang="ru-RU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Конструктором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операции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обработчике события главного окна, например, щелчком по кнопке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45106" y="3208160"/>
            <a:ext cx="8175167" cy="1477328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//Шаблон создания объекта для окна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button1_Click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(object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Папка.Класс_окна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объект_окна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Конструктор_класса_окна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1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7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591" y="20313"/>
            <a:ext cx="84428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Отображение </a:t>
            </a:r>
            <a:r>
              <a:rPr lang="ru-RU" sz="36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дополнительного окна</a:t>
            </a:r>
            <a:endParaRPr lang="ru-RU" sz="36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3291" y="1009915"/>
            <a:ext cx="813312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Модальное окно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отображается поверх других окон и блокирует переход к другому окну до своего закрытия. Используется для контроля выполнения обязательных действий пользователем.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3290" y="2070954"/>
            <a:ext cx="81005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Немодальное окно</a:t>
            </a:r>
            <a:r>
              <a:rPr lang="ru-RU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блокирует переходы между окнами. Работа с окнами ведется параллельно для обмена информацией.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204671" y="620688"/>
            <a:ext cx="8151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может отображаться в одном из двух режимов: модальном и немодальном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374305"/>
              </p:ext>
            </p:extLst>
          </p:nvPr>
        </p:nvGraphicFramePr>
        <p:xfrm>
          <a:off x="183290" y="2733040"/>
          <a:ext cx="8709189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ShowDialog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Отобразить окно модально;</a:t>
                      </a:r>
                      <a:r>
                        <a:rPr lang="ru-RU" sz="18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блокирует главное окно, т.е. управление вернется в него, только при закрытии дополнительного</a:t>
                      </a:r>
                      <a:r>
                        <a:rPr lang="ru-RU" sz="1800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окна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Отобразить окно н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 модально; просто отображает второе окно, т.е. будут доступны оба окна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Скрывает окно (делает невидимым)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без удаления из памяти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Закрытие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текущего окна, но не приложения. 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Полностью  уничтожает окно, освобождая память, противоположно действию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К окну обратиться нельзя. Если применить к главному окну, то закроется приложение.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App.Current.Shutdown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Приложение немедленно прекращает работу и выгружает все ресурсы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87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95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64738" y="20313"/>
            <a:ext cx="81516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главного окна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64738" y="823423"/>
            <a:ext cx="8979262" cy="5909310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Window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//Конструктор главного окна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   }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btnExit_Click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App.Current.Shutdown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}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btnAdmin_Click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//Создать объект дополнительного окна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View.AuthorizationWindow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View.AuthorizationWindow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this.Hide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//Скрыть главное окно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authorizationWindow.ShowDialog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//Показать в диалоге дополнительное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this.Show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//После закрытия дополнительного – открыть главное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private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btnWorkers_Click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    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btnAdmin_Click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(sender, 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ru-RU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//Вызов обработчика события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661" y="692696"/>
            <a:ext cx="3458339" cy="264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4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2898"/>
            <a:ext cx="84153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дополнительного окна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51520" y="795411"/>
            <a:ext cx="8091856" cy="3970318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partial 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Window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//Конструктор дополнительного окна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public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AuthorizationWindow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//Кнопка «Назад»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private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btnBack_Click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 sender,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RoutedEventArgs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//Закрывает и освобождает ресурсы только этого окна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4221088"/>
            <a:ext cx="3572324" cy="2700435"/>
          </a:xfrm>
          <a:prstGeom prst="rect">
            <a:avLst/>
          </a:prstGeom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6516216" y="4653136"/>
            <a:ext cx="1152128" cy="4320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41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591" y="20313"/>
            <a:ext cx="83708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Заставка к приложению</a:t>
            </a:r>
            <a:endParaRPr lang="ru-RU" sz="44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510" y="789754"/>
            <a:ext cx="814899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длительно загружаемых приложений нередко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 заставку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сплеш-скрин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WPF простые заставки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сделать 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добавьте в проект какое-нибудь изображение и после добавления установите для него в окне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(Свойства) для свойства </a:t>
            </a:r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BuildAction</a:t>
            </a: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</a:t>
            </a:r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SplashScreen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 после запуска до появления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главного окна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на экране будет висеть изображение заставки.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627784" y="2852936"/>
            <a:ext cx="331016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5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263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WordArt 5"/>
          <p:cNvSpPr>
            <a:spLocks noChangeArrowheads="1" noChangeShapeType="1" noTextEdit="1"/>
          </p:cNvSpPr>
          <p:nvPr/>
        </p:nvSpPr>
        <p:spPr bwMode="auto">
          <a:xfrm>
            <a:off x="1184672" y="95972"/>
            <a:ext cx="7120011" cy="576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27"/>
              </a:avLst>
            </a:prstTxWarp>
          </a:bodyPr>
          <a:lstStyle/>
          <a:p>
            <a:pPr algn="ctr"/>
            <a:r>
              <a:rPr lang="ru-RU" sz="44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Практическая работа на ПК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394032" y="561646"/>
            <a:ext cx="6997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«Многооконный интерфейс»</a:t>
            </a:r>
            <a:endParaRPr lang="ru-RU" sz="28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601034" y="1059401"/>
            <a:ext cx="67036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систему окон для работы с меню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94956" y="1674629"/>
            <a:ext cx="8296798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структуре проекта:</a:t>
            </a: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заставку к приложению – картинка логотипа. </a:t>
            </a: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Главным окном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содержит главное меню с пунктами: Клиент банка, Сотрудник банка, Системный администратор. Кнопку «Выход» из приложения.</a:t>
            </a: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окна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0000" lvl="1" eaLnBrk="1" hangingPunct="1">
              <a:buFont typeface="Arial" panose="020B0604020202020204" pitchFamily="34" charset="0"/>
              <a:buChar char="•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– отобразить при выборе второго и третьего пунктов меню. Содержит поля ввода логина и пароля, кнопку «Войти» и «Выход».</a:t>
            </a:r>
          </a:p>
          <a:p>
            <a:pPr marL="540000" lvl="1" eaLnBrk="1" hangingPunct="1">
              <a:buFont typeface="Arial" panose="020B0604020202020204" pitchFamily="34" charset="0"/>
              <a:buChar char="•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сотрудника банка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отобразиться по кнопке «Войти» при успешном вводе логина и пароля. Есть кнопка «Назад».</a:t>
            </a:r>
          </a:p>
          <a:p>
            <a:pPr marL="540000" lvl="1" eaLnBrk="1" hangingPunct="1">
              <a:buFont typeface="Arial" panose="020B0604020202020204" pitchFamily="34" charset="0"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</a:t>
            </a:r>
            <a:r>
              <a:rPr lang="ru-RU" alt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системного администратора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отобразиться по кнопке «Войти» при успешном вводе логина и пароля. Есть кнопка «Назад».</a:t>
            </a:r>
          </a:p>
          <a:p>
            <a:pPr marL="540000" lvl="1" eaLnBrk="1" hangingPunct="1">
              <a:buFont typeface="Arial" panose="020B0604020202020204" pitchFamily="34" charset="0"/>
              <a:buChar char="•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alt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для пользователя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–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отобразиться при выборе первого пункта меню главного окна.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кнопка «Назад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дополнительные окна должны находиться в папке проекта (</a:t>
            </a:r>
            <a:r>
              <a:rPr lang="en-US" alt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окно должно иметь единый стиль оформления: иконку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логотип, заголовок, кнопку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возврата в главную форму (меню проекта).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§"/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подтверждение закрытия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 окна (событие </a:t>
            </a:r>
            <a:r>
              <a:rPr lang="en-US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Closing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окна</a:t>
            </a:r>
            <a:r>
              <a:rPr lang="en-US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6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263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WordArt 5"/>
          <p:cNvSpPr>
            <a:spLocks noChangeArrowheads="1" noChangeShapeType="1" noTextEdit="1"/>
          </p:cNvSpPr>
          <p:nvPr/>
        </p:nvSpPr>
        <p:spPr bwMode="auto">
          <a:xfrm>
            <a:off x="1184672" y="95972"/>
            <a:ext cx="7120011" cy="576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27"/>
              </a:avLst>
            </a:prstTxWarp>
          </a:bodyPr>
          <a:lstStyle/>
          <a:p>
            <a:pPr algn="ctr"/>
            <a:r>
              <a:rPr lang="ru-RU" sz="4400" b="1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Практическая работа на ПК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394032" y="554922"/>
            <a:ext cx="6997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«Многооконный интерфейс»</a:t>
            </a:r>
            <a:endParaRPr lang="ru-RU" sz="2800" b="1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050" y="3164928"/>
            <a:ext cx="3193051" cy="24315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247" y="3412618"/>
            <a:ext cx="2714238" cy="20587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75" y="1333148"/>
            <a:ext cx="3013075" cy="201085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75956"/>
            <a:ext cx="2800741" cy="211960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1556" y="1045320"/>
            <a:ext cx="2815030" cy="2119608"/>
          </a:xfrm>
          <a:prstGeom prst="rect">
            <a:avLst/>
          </a:prstGeom>
        </p:spPr>
      </p:pic>
      <p:sp>
        <p:nvSpPr>
          <p:cNvPr id="21" name="Стрелка вправо 20"/>
          <p:cNvSpPr/>
          <p:nvPr/>
        </p:nvSpPr>
        <p:spPr>
          <a:xfrm rot="17820501">
            <a:off x="6743807" y="3291460"/>
            <a:ext cx="1408404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право 6"/>
          <p:cNvSpPr/>
          <p:nvPr/>
        </p:nvSpPr>
        <p:spPr>
          <a:xfrm rot="10800000" flipV="1">
            <a:off x="4564217" y="4380680"/>
            <a:ext cx="999102" cy="255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 rot="10800000" flipV="1">
            <a:off x="4565206" y="4694634"/>
            <a:ext cx="999102" cy="255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/>
          <p:cNvSpPr/>
          <p:nvPr/>
        </p:nvSpPr>
        <p:spPr>
          <a:xfrm rot="12880134">
            <a:off x="2140408" y="2922416"/>
            <a:ext cx="1211670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трелка вправо 22"/>
          <p:cNvSpPr/>
          <p:nvPr/>
        </p:nvSpPr>
        <p:spPr>
          <a:xfrm rot="7815190">
            <a:off x="2400448" y="5105745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98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" grpId="0" animBg="1"/>
      <p:bldP spid="25" grpId="0" animBg="1"/>
      <p:bldP spid="24" grpId="0" animBg="1"/>
      <p:bldP spid="2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Соседство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10365</TotalTime>
  <Words>1000</Words>
  <Application>Microsoft Office PowerPoint</Application>
  <PresentationFormat>Экран (4:3)</PresentationFormat>
  <Paragraphs>138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Wingdings</vt:lpstr>
      <vt:lpstr>Соседство</vt:lpstr>
      <vt:lpstr>Многооконный интерфейс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Базы данных Общие понятия БД</dc:title>
  <dc:creator>mama</dc:creator>
  <cp:lastModifiedBy>matisik-i-a</cp:lastModifiedBy>
  <cp:revision>431</cp:revision>
  <dcterms:created xsi:type="dcterms:W3CDTF">2020-11-22T10:27:39Z</dcterms:created>
  <dcterms:modified xsi:type="dcterms:W3CDTF">2025-11-01T08:24:10Z</dcterms:modified>
</cp:coreProperties>
</file>